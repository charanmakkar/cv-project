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EBF5F6"/>
                </a:solidFill>
                <a:latin typeface="Aptos"/>
              </a:rPr>
              <a:t>Project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11292840" cy="2286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9672"/>
            <a:ext cx="98755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A3BEC6"/>
                </a:solidFill>
                <a:latin typeface="Aptos"/>
              </a:rPr>
              <a:t>COMPUTER VISION AUTONOMOUS PATROL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73952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0D7D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EBF5F6"/>
                </a:solidFill>
                <a:latin typeface="Aptos"/>
              </a:rPr>
              <a:t>Computer Vision</a:t>
            </a:r>
          </a:p>
          <a:p>
            <a:pPr>
              <a:spcAft>
                <a:spcPts val="400"/>
              </a:spcAft>
            </a:pPr>
            <a:r>
              <a:rPr sz="3600" b="1">
                <a:solidFill>
                  <a:srgbClr val="EBF5F6"/>
                </a:solidFill>
                <a:latin typeface="Aptos"/>
              </a:rPr>
              <a:t>Autonomous Patrol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657600"/>
            <a:ext cx="6766560" cy="9144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60D7D8"/>
                </a:solidFill>
                <a:latin typeface="Aptos"/>
              </a:rPr>
              <a:t>From a camera frame to an explainable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60D7D8"/>
                </a:solidFill>
                <a:latin typeface="Aptos"/>
              </a:rPr>
              <a:t>simulated navigation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463040"/>
            <a:ext cx="3429000" cy="4069080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10512"/>
            <a:ext cx="292608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D166"/>
                </a:solidFill>
                <a:latin typeface="Aptos"/>
              </a:rPr>
              <a:t>PROTOTYPE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450592"/>
            <a:ext cx="2834640" cy="2240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EBF5F6"/>
                </a:solidFill>
                <a:latin typeface="Aptos"/>
              </a:rPr>
              <a:t>Working GUI and navigation pipeline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EBF5F6"/>
                </a:solidFill>
                <a:latin typeface="Aptos"/>
              </a:rPr>
              <a:t>6 headless tests passed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EBF5F6"/>
                </a:solidFill>
                <a:latin typeface="Aptos"/>
              </a:rPr>
              <a:t>Real-footage evaluation proposed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916168"/>
            <a:ext cx="868680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A3BEC6"/>
                </a:solidFill>
                <a:latin typeface="Aptos"/>
              </a:rPr>
              <a:t>Software-only educational system  •  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EBF5F6"/>
                </a:solidFill>
                <a:latin typeface="Aptos"/>
              </a:rPr>
              <a:t>Problem and project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11292840" cy="2286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9672"/>
            <a:ext cx="98755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A3BEC6"/>
                </a:solidFill>
                <a:latin typeface="Aptos"/>
              </a:rPr>
              <a:t>COMPUTER VISION AUTONOMOUS PATROL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73952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0D7D8"/>
                </a:solidFill>
                <a:latin typeface="Aptos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170432"/>
            <a:ext cx="5257800" cy="3291840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70432"/>
            <a:ext cx="50292" cy="329184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4892040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60D7D8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73352"/>
            <a:ext cx="4892040" cy="2670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Object detection identifies what appears in an image. It does not, by itself, show which route is less risky or explain a navigation command.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70432"/>
            <a:ext cx="5394960" cy="3291840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70432"/>
            <a:ext cx="50292" cy="32918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029200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D166"/>
                </a:solidFill>
                <a:latin typeface="Aptos"/>
              </a:rPr>
              <a:t>Our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73352"/>
            <a:ext cx="5029200" cy="2670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How can monocular detections, image geometry, and transparent risk rules produce stable simulated decisions?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10698480" cy="7772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solidFill>
                  <a:srgbClr val="EBF5F6"/>
                </a:solidFill>
                <a:latin typeface="Aptos"/>
              </a:rPr>
              <a:t>Goal: make every step from object box to steering recommendation visible and testable.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EBF5F6"/>
                </a:solidFill>
                <a:latin typeface="Aptos"/>
              </a:rPr>
              <a:t>Project objectives and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11292840" cy="2286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9672"/>
            <a:ext cx="98755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A3BEC6"/>
                </a:solidFill>
                <a:latin typeface="Aptos"/>
              </a:rPr>
              <a:t>COMPUTER VISION AUTONOMOUS PATROL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73952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0D7D8"/>
                </a:solidFill>
                <a:latin typeface="Apto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1115568"/>
            <a:ext cx="10927080" cy="969264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234440"/>
            <a:ext cx="621792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60D7D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188720"/>
            <a:ext cx="288036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EBF5F6"/>
                </a:solidFill>
                <a:latin typeface="Aptos"/>
              </a:rPr>
              <a:t>Detect and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234440"/>
            <a:ext cx="662940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A3BEC6"/>
                </a:solidFill>
                <a:latin typeface="Aptos"/>
              </a:rPr>
              <a:t>Selected people, vehicles, bicycles, buses, trucks, and chairs.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258568"/>
            <a:ext cx="10927080" cy="969264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77439"/>
            <a:ext cx="621792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60D7D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331720"/>
            <a:ext cx="288036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EBF5F6"/>
                </a:solidFill>
                <a:latin typeface="Aptos"/>
              </a:rPr>
              <a:t>Understand scene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377439"/>
            <a:ext cx="662940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A3BEC6"/>
                </a:solidFill>
                <a:latin typeface="Aptos"/>
              </a:rPr>
              <a:t>Zones, projected corridor, approximate proximity, and apparent approach.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" y="3401568"/>
            <a:ext cx="10927080" cy="969264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520439"/>
            <a:ext cx="621792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60D7D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74720"/>
            <a:ext cx="288036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EBF5F6"/>
                </a:solidFill>
                <a:latin typeface="Aptos"/>
              </a:rPr>
              <a:t>Recommend an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520439"/>
            <a:ext cx="662940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A3BEC6"/>
                </a:solidFill>
                <a:latin typeface="Aptos"/>
              </a:rPr>
              <a:t>Compare left and right risk; choose straight, turn, or stop.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" y="4544568"/>
            <a:ext cx="10927080" cy="969264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663440"/>
            <a:ext cx="621792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60D7D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617720"/>
            <a:ext cx="288036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EBF5F6"/>
                </a:solidFill>
                <a:latin typeface="Aptos"/>
              </a:rPr>
              <a:t>Explain and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663440"/>
            <a:ext cx="662940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A3BEC6"/>
                </a:solidFill>
                <a:latin typeface="Aptos"/>
              </a:rPr>
              <a:t>Show the reason in the GUI; replay scenes and inspect failures.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94360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FD166"/>
                </a:solidFill>
                <a:latin typeface="Aptos"/>
              </a:rPr>
              <a:t>Scope: desktop simulation only; no motors, measured depth, or safety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EBF5F6"/>
                </a:solidFill>
                <a:latin typeface="Aptos"/>
              </a:rPr>
              <a:t>How the system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11292840" cy="2286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9672"/>
            <a:ext cx="98755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A3BEC6"/>
                </a:solidFill>
                <a:latin typeface="Aptos"/>
              </a:rPr>
              <a:t>COMPUTER VISION AUTONOMOUS PATROL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73952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0D7D8"/>
                </a:solidFill>
                <a:latin typeface="Apto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115568"/>
            <a:ext cx="10954512" cy="3355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yste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71" y="1234440"/>
            <a:ext cx="10551864" cy="3054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4727448"/>
            <a:ext cx="10515600" cy="7680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solidFill>
                  <a:srgbClr val="EBF5F6"/>
                </a:solidFill>
                <a:latin typeface="Aptos"/>
              </a:rPr>
              <a:t>Frame → objects → tracking → geometry → risk → route choice → steering and wheel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641848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A3BEC6"/>
                </a:solidFill>
                <a:latin typeface="Aptos"/>
              </a:rPr>
              <a:t>The dashboard displays the frame, estimated proximity, corridor risks, selected action, and reason.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EBF5F6"/>
                </a:solidFill>
                <a:latin typeface="Aptos"/>
              </a:rPr>
              <a:t>Computer vision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11292840" cy="2286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9672"/>
            <a:ext cx="98755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A3BEC6"/>
                </a:solidFill>
                <a:latin typeface="Aptos"/>
              </a:rPr>
              <a:t>COMPUTER VISION AUTONOMOUS PATROL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73952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0D7D8"/>
                </a:solidFill>
                <a:latin typeface="Apto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1097280"/>
            <a:ext cx="5321808" cy="1892807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097280"/>
            <a:ext cx="50292" cy="1892807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207007"/>
            <a:ext cx="495604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60D7D8"/>
                </a:solidFill>
                <a:latin typeface="Aptos"/>
              </a:rPr>
              <a:t>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600200"/>
            <a:ext cx="4956048" cy="1271015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YOLO11n returns classes, confidence, and bounding boxes. IoU matching assigns track IDs and box-area trends suggest approach.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340096" cy="1892807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0292" cy="1892807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07007"/>
            <a:ext cx="4974336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D166"/>
                </a:solidFill>
                <a:latin typeface="Aptos"/>
              </a:rPr>
              <a:t>Spatial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4974336" cy="1271015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Box centers select image zones. Box height gives an approximate distance; a center corridor and lower-frame position add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3246120"/>
            <a:ext cx="5321808" cy="1892807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3246120"/>
            <a:ext cx="50292" cy="1892807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355848"/>
            <a:ext cx="495604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60D7D8"/>
                </a:solidFill>
                <a:latin typeface="Aptos"/>
              </a:rPr>
              <a:t>Scene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49039"/>
            <a:ext cx="4956048" cy="1271015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Risk combines proximity, size, class, confidence, location, and approach. Zone risks are combined for each side.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46120"/>
            <a:ext cx="5340096" cy="1892807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46120"/>
            <a:ext cx="50292" cy="1892807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55848"/>
            <a:ext cx="4974336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D166"/>
                </a:solidFill>
                <a:latin typeface="Aptos"/>
              </a:rPr>
              <a:t>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4974336" cy="1271015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The GUI shows the primary threat, its estimated distance and risk, left/right corridor totals, and the selected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687568"/>
            <a:ext cx="1060704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F4727C"/>
                </a:solidFill>
                <a:latin typeface="Aptos"/>
              </a:rPr>
              <a:t>Distance and risk are heuristics, not calibrated physical measurements.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EBF5F6"/>
                </a:solidFill>
                <a:latin typeface="Aptos"/>
              </a:rPr>
              <a:t>Current prototype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11292840" cy="2286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9672"/>
            <a:ext cx="98755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A3BEC6"/>
                </a:solidFill>
                <a:latin typeface="Aptos"/>
              </a:rPr>
              <a:t>COMPUTER VISION AUTONOMOUS PATROL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73952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0D7D8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dashboard_turn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37426"/>
            <a:ext cx="6492240" cy="46677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69480" y="1325880"/>
            <a:ext cx="406908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60D7D8"/>
                </a:solidFill>
                <a:latin typeface="Aptos"/>
              </a:rPr>
              <a:t>CONTROLLED TURN 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920240"/>
            <a:ext cx="4005072" cy="21031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100" b="0">
                <a:solidFill>
                  <a:srgbClr val="EBF5F6"/>
                </a:solidFill>
                <a:latin typeface="Aptos"/>
              </a:rPr>
              <a:t>A center car and a right-side person raise risk on the right. The simulator selects TURN LEFT, with the left wheel slower than the right.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4480560"/>
            <a:ext cx="4087368" cy="1234440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4590288"/>
            <a:ext cx="365760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Aptos"/>
              </a:rPr>
              <a:t>Figure 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4937760"/>
            <a:ext cx="3630168" cy="6217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A3BEC6"/>
                </a:solidFill>
                <a:latin typeface="Aptos"/>
              </a:rPr>
              <a:t>Real GUI capture with injected test boxes over synthetic video; not a YOLO accuracy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EBF5F6"/>
                </a:solidFill>
                <a:latin typeface="Aptos"/>
              </a:rPr>
              <a:t>Validation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11292840" cy="22860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519672"/>
            <a:ext cx="987552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A3BEC6"/>
                </a:solidFill>
                <a:latin typeface="Aptos"/>
              </a:rPr>
              <a:t>COMPUTER VISION AUTONOMOUS PATROL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473952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0D7D8"/>
                </a:solidFill>
                <a:latin typeface="Apto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161288"/>
            <a:ext cx="5276088" cy="3602736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161288"/>
            <a:ext cx="50292" cy="3602736"/>
          </a:xfrm>
          <a:prstGeom prst="rect">
            <a:avLst/>
          </a:prstGeom>
          <a:solidFill>
            <a:srgbClr val="6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71016"/>
            <a:ext cx="4910327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60D7D8"/>
                </a:solidFill>
                <a:latin typeface="Aptos"/>
              </a:rPr>
              <a:t>Evidence already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64208"/>
            <a:ext cx="4910327" cy="298094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Working webcam/video dashboard.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Six navigation tests passed.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Controlled clear, turn, and stop screenshots.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YOLO model loaded on CPU.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161288"/>
            <a:ext cx="5340096" cy="3602736"/>
          </a:xfrm>
          <a:prstGeom prst="rect">
            <a:avLst/>
          </a:prstGeom>
          <a:solidFill>
            <a:srgbClr val="12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161288"/>
            <a:ext cx="50292" cy="360273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271016"/>
            <a:ext cx="4974336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D166"/>
                </a:solidFill>
                <a:latin typeface="Aptos"/>
              </a:rPr>
              <a:t>Proposed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664208"/>
            <a:ext cx="4974336" cy="298094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Use real footage with configured classes.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Record detection and tracking behavior.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Measure FPS and inference time.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EBF5F6"/>
                </a:solidFill>
                <a:latin typeface="Aptos"/>
              </a:rPr>
              <a:t>Resolve pause, stop-delay, and corridor-display inconsistencies.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66360"/>
            <a:ext cx="10607040" cy="7498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EBF5F6"/>
                </a:solidFill>
                <a:latin typeface="Aptos"/>
              </a:rPr>
              <a:t>Outcome: a reproducible teaching and research demonstration with clearly reported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Autonomous Patrol Simulator Project Proposal</dc:title>
  <dc:subject>Academic project concept and validation proposal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